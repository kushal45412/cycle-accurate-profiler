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914400"/>
            <a:ext cx="3840480" cy="365760"/>
          </a:xfrm>
          <a:prstGeom prst="roundRect">
            <a:avLst/>
          </a:prstGeom>
          <a:solidFill>
            <a:srgbClr val="0F4C5C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MICROARCHITECTURE-AWARE COMPILER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PARISCV v2: Compiler-in-the-Loop Hazard &amp;</a:t>
            </a:r>
            <a:br/>
            <a:r>
              <a:t>Zero-Cost Alignment Enhancements</a:t>
            </a:r>
          </a:p>
          <a:p>
            <a:br/>
            <a:r>
              <a:t>Predicting Load-Use Scheduling Slack &amp; Unlocking Free Branch-Target Speedups on OpenHW RISC-V Cores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0D9488"/>
                </a:solidFill>
                <a:latin typeface="Segoe UI"/>
              </a:defRPr>
            </a:pPr>
            <a:r>
              <a:t>Up to 8.63% Speedup</a:t>
            </a:r>
          </a:p>
          <a:p>
            <a:br/>
            <a:r>
              <a:t>Zero-Cost Branch-Target Alignment</a:t>
            </a:r>
            <a:br/>
            <a:r>
              <a:t>Recovered 4,465 cycles on 'edn' and 222k cycles on 'primecount' with 0 extra hardware transistors.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3840480"/>
            <a:ext cx="5120640" cy="21945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38BDF8"/>
                </a:solidFill>
                <a:latin typeface="Segoe UI"/>
              </a:defRPr>
            </a:pPr>
            <a:r>
              <a:t>100.0% Prediction Match</a:t>
            </a:r>
          </a:p>
          <a:p>
            <a:br/>
            <a:r>
              <a:t>Microarchitectural Hazard Slack Model (d_slack &lt;= 1)</a:t>
            </a:r>
            <a:br/>
            <a:r>
              <a:t>Accurately predicts when fusing instructions collapses scheduling cushions and creates 0% speedup stalls.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11480"/>
            <a:ext cx="3474720" cy="320040"/>
          </a:xfrm>
          <a:prstGeom prst="roundRect">
            <a:avLst/>
          </a:prstGeom>
          <a:solidFill>
            <a:srgbClr val="0F4C5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MICROARCHITECTURAL CONTROL-FLOW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Problem 1: The Branch-Target Misalignment Stall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Why Misalignment Causes Stalls in RV32IMC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• 4-Byte Memory Structure: Processors fetch code from memory in 32-bit (4-byte) aligned words.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• 16-Bit Compression Shift: In RV32IMC, 2-byte compressed instructions shift loop entry addresses to non-word-aligned offsets (e.g. PC % 4 == 2).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• Instruction Splitting: A 4-byte instruction at 0x...e6 sits across two separate memory words.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• 2-Cycle Fetch Penalty: When a branch jumps to an unaligned target, the fetcher must perform TWO memory reads before decoding.</a:t>
            </a:r>
          </a:p>
          <a:p>
            <a:pPr>
              <a:defRPr sz="1200">
                <a:solidFill>
                  <a:srgbClr val="CBD5E1"/>
                </a:solidFill>
                <a:latin typeface="Segoe UI"/>
              </a:defRPr>
            </a:pPr>
            <a:r>
              <a:t>• Loop Multiplication: On every taken loop iteration, the core suffers a +1 cycle stall bubble.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59E0B"/>
                </a:solidFill>
                <a:latin typeface="Segoe UI"/>
              </a:defRPr>
            </a:pPr>
            <a:r>
              <a:t>Profiling Evidence from cv32e40x_model.py</a:t>
            </a:r>
          </a:p>
          <a:p>
            <a:br/>
            <a:r>
              <a:t>$ python cv32e40x_model.py pg_matmult.trace --misalign-report</a:t>
            </a:r>
            <a:br/>
            <a:br/>
            <a:r>
              <a:t>Total Misalignment Stalls: 3,226 cycles (2.55% of exec)</a:t>
            </a:r>
            <a:br/>
            <a:r>
              <a:t>Target PC    Stall Cycles   % Misalign</a:t>
            </a:r>
            <a:br/>
            <a:r>
              <a:t>--------------------------------------</a:t>
            </a:r>
            <a:br/>
            <a:r>
              <a:t>0x800002e6         3,200      99.2%  &lt;-- HOT LOOP TARGET!</a:t>
            </a:r>
            <a:br/>
            <a:r>
              <a:t>0x8000007a            19       0.6%</a:t>
            </a:r>
            <a:br/>
            <a:br/>
            <a:r>
              <a:t>Key Finding across 19 Embench Kernels:</a:t>
            </a:r>
            <a:br/>
            <a:r>
              <a:t>• 2.2% to 8.6% of total processor cycles are lost purely to</a:t>
            </a:r>
            <a:br/>
            <a:r>
              <a:t>  unaligned loop entry branches!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11480"/>
            <a:ext cx="3474720" cy="320040"/>
          </a:xfrm>
          <a:prstGeom prst="roundRect">
            <a:avLst/>
          </a:prstGeom>
          <a:solidFill>
            <a:srgbClr val="0F4C5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ZERO-HARDWARE SOFTWARE ACCELERATION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Solution 1: Automated Branch Alignment Pass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6683" y="1250255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9488"/>
                </a:solidFill>
                <a:latin typeface="Segoe UI"/>
              </a:defRPr>
            </a:pPr>
            <a:r>
              <a:rPr dirty="0"/>
              <a:t>How the Automated Fix Works</a:t>
            </a:r>
          </a:p>
          <a:p>
            <a:br>
              <a:rPr dirty="0"/>
            </a:br>
            <a:r>
              <a:rPr dirty="0"/>
              <a:t>1. Profiler Identifies Hot PC: </a:t>
            </a:r>
          </a:p>
          <a:p>
            <a:pPr>
              <a:defRPr>
                <a:solidFill>
                  <a:srgbClr val="CBD5E1"/>
                </a:solidFill>
              </a:defRPr>
            </a:pPr>
            <a:r>
              <a:rPr dirty="0"/>
              <a:t>The cycle model pinpoints exact loop labels landing on odd boundaries.</a:t>
            </a:r>
          </a:p>
          <a:p>
            <a:br>
              <a:rPr dirty="0"/>
            </a:br>
            <a:r>
              <a:rPr dirty="0"/>
              <a:t>2. Compiler Alignment Flags (tools/firmware_builder.py):</a:t>
            </a:r>
          </a:p>
          <a:p>
            <a:pPr>
              <a:defRPr>
                <a:solidFill>
                  <a:srgbClr val="38BDF8"/>
                </a:solidFill>
              </a:defRPr>
            </a:pPr>
            <a:r>
              <a:rPr dirty="0"/>
              <a:t>Passes -</a:t>
            </a:r>
            <a:r>
              <a:rPr dirty="0" err="1"/>
              <a:t>falign</a:t>
            </a:r>
            <a:r>
              <a:rPr dirty="0"/>
              <a:t>-loops=4 -</a:t>
            </a:r>
            <a:r>
              <a:rPr dirty="0" err="1"/>
              <a:t>falign</a:t>
            </a:r>
            <a:r>
              <a:rPr dirty="0"/>
              <a:t>-jumps=4 -</a:t>
            </a:r>
            <a:r>
              <a:rPr dirty="0" err="1"/>
              <a:t>falign</a:t>
            </a:r>
            <a:r>
              <a:rPr dirty="0"/>
              <a:t>-functions=4 to GCC.</a:t>
            </a:r>
          </a:p>
          <a:p>
            <a:br>
              <a:rPr dirty="0"/>
            </a:br>
            <a:r>
              <a:rPr dirty="0"/>
              <a:t>3. 2-Byte NOP Padding (</a:t>
            </a:r>
            <a:r>
              <a:rPr dirty="0" err="1"/>
              <a:t>c.nop</a:t>
            </a:r>
            <a:r>
              <a:rPr dirty="0"/>
              <a:t>):</a:t>
            </a:r>
          </a:p>
          <a:p>
            <a:pPr>
              <a:defRPr>
                <a:solidFill>
                  <a:srgbClr val="CBD5E1"/>
                </a:solidFill>
              </a:defRPr>
            </a:pPr>
            <a:r>
              <a:rPr dirty="0"/>
              <a:t>GCC automatically pads Byte 2 &amp; 3 with </a:t>
            </a:r>
            <a:r>
              <a:rPr dirty="0" err="1"/>
              <a:t>c.nop</a:t>
            </a:r>
            <a:r>
              <a:rPr dirty="0"/>
              <a:t>, pushing the loop target cleanly to the next 4-byte address (0x800002e8). Zero stall cycles on fetch!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0648" y="1112807"/>
            <a:ext cx="6564702" cy="5029775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22C55E"/>
                </a:solidFill>
                <a:latin typeface="Segoe UI"/>
              </a:defRPr>
            </a:pPr>
            <a:r>
              <a:rPr dirty="0"/>
              <a:t>Measured Speedups Across </a:t>
            </a:r>
            <a:r>
              <a:t>Benchmarks </a:t>
            </a:r>
            <a:endParaRPr dirty="0"/>
          </a:p>
          <a:p>
            <a:br>
              <a:rPr dirty="0"/>
            </a:br>
            <a:r>
              <a:rPr dirty="0"/>
              <a:t>Benchmark      Baseline     </a:t>
            </a:r>
            <a:r>
              <a:rPr lang="en-US" dirty="0"/>
              <a:t>Misalignments</a:t>
            </a:r>
            <a:r>
              <a:rPr dirty="0"/>
              <a:t>   Zero-Cost Speedup</a:t>
            </a:r>
            <a:br>
              <a:rPr dirty="0"/>
            </a:br>
            <a:r>
              <a:rPr dirty="0"/>
              <a:t>------------------------------------------------------------</a:t>
            </a:r>
            <a:br>
              <a:rPr dirty="0"/>
            </a:br>
            <a:r>
              <a:rPr dirty="0" err="1"/>
              <a:t>tarfind</a:t>
            </a:r>
            <a:r>
              <a:rPr dirty="0"/>
              <a:t>        117,975 </a:t>
            </a:r>
            <a:r>
              <a:rPr dirty="0" err="1"/>
              <a:t>cyc</a:t>
            </a:r>
            <a:r>
              <a:rPr dirty="0"/>
              <a:t>    10,187 </a:t>
            </a:r>
            <a:r>
              <a:rPr dirty="0" err="1"/>
              <a:t>cyc</a:t>
            </a:r>
            <a:r>
              <a:rPr dirty="0"/>
              <a:t>     8.63% (1.095x)</a:t>
            </a:r>
            <a:br>
              <a:rPr dirty="0"/>
            </a:br>
            <a:r>
              <a:rPr dirty="0" err="1"/>
              <a:t>bench_sha</a:t>
            </a:r>
            <a:r>
              <a:rPr dirty="0"/>
              <a:t>       12,298 </a:t>
            </a:r>
            <a:r>
              <a:rPr dirty="0" err="1"/>
              <a:t>cyc</a:t>
            </a:r>
            <a:r>
              <a:rPr dirty="0"/>
              <a:t>     1,024 </a:t>
            </a:r>
            <a:r>
              <a:rPr dirty="0" err="1"/>
              <a:t>cyc</a:t>
            </a:r>
            <a:r>
              <a:rPr dirty="0"/>
              <a:t>     8.33% (1.091x)</a:t>
            </a:r>
            <a:br>
              <a:rPr dirty="0"/>
            </a:br>
            <a:r>
              <a:rPr dirty="0" err="1"/>
              <a:t>bench_rol</a:t>
            </a:r>
            <a:r>
              <a:rPr dirty="0"/>
              <a:t>       14,346 </a:t>
            </a:r>
            <a:r>
              <a:rPr dirty="0" err="1"/>
              <a:t>cyc</a:t>
            </a:r>
            <a:r>
              <a:rPr dirty="0"/>
              <a:t>     1,024 </a:t>
            </a:r>
            <a:r>
              <a:rPr dirty="0" err="1"/>
              <a:t>cyc</a:t>
            </a:r>
            <a:r>
              <a:rPr dirty="0"/>
              <a:t>     7.14% (1.077x)</a:t>
            </a:r>
            <a:br>
              <a:rPr dirty="0"/>
            </a:br>
            <a:r>
              <a:rPr dirty="0" err="1"/>
              <a:t>statemate</a:t>
            </a:r>
            <a:r>
              <a:rPr dirty="0"/>
              <a:t>        1,624 </a:t>
            </a:r>
            <a:r>
              <a:rPr dirty="0" err="1"/>
              <a:t>cyc</a:t>
            </a:r>
            <a:r>
              <a:rPr dirty="0"/>
              <a:t>        94 </a:t>
            </a:r>
            <a:r>
              <a:rPr dirty="0" err="1"/>
              <a:t>cyc</a:t>
            </a:r>
            <a:r>
              <a:rPr dirty="0"/>
              <a:t>     5.79% (1.061x)</a:t>
            </a:r>
            <a:br>
              <a:rPr dirty="0"/>
            </a:br>
            <a:r>
              <a:rPr dirty="0"/>
              <a:t>st           2,233,172 </a:t>
            </a:r>
            <a:r>
              <a:rPr dirty="0" err="1"/>
              <a:t>cyc</a:t>
            </a:r>
            <a:r>
              <a:rPr dirty="0"/>
              <a:t>   128,083 </a:t>
            </a:r>
            <a:r>
              <a:rPr dirty="0" err="1"/>
              <a:t>cyc</a:t>
            </a:r>
            <a:r>
              <a:rPr dirty="0"/>
              <a:t>     5.74% (1.061x)</a:t>
            </a:r>
            <a:br>
              <a:rPr dirty="0"/>
            </a:br>
            <a:r>
              <a:rPr dirty="0" err="1"/>
              <a:t>primecount</a:t>
            </a:r>
            <a:r>
              <a:rPr dirty="0"/>
              <a:t>   3,927,267 </a:t>
            </a:r>
            <a:r>
              <a:rPr dirty="0" err="1"/>
              <a:t>cyc</a:t>
            </a:r>
            <a:r>
              <a:rPr dirty="0"/>
              <a:t>   222,548 </a:t>
            </a:r>
            <a:r>
              <a:rPr dirty="0" err="1"/>
              <a:t>cyc</a:t>
            </a:r>
            <a:r>
              <a:rPr dirty="0"/>
              <a:t>     5.67% (1.060x)</a:t>
            </a:r>
            <a:br>
              <a:rPr dirty="0"/>
            </a:br>
            <a:r>
              <a:rPr dirty="0"/>
              <a:t>md5             73,500 </a:t>
            </a:r>
            <a:r>
              <a:rPr dirty="0" err="1"/>
              <a:t>cyc</a:t>
            </a:r>
            <a:r>
              <a:rPr dirty="0"/>
              <a:t>     3,638 </a:t>
            </a:r>
            <a:r>
              <a:rPr dirty="0" err="1"/>
              <a:t>cyc</a:t>
            </a:r>
            <a:r>
              <a:rPr dirty="0"/>
              <a:t>     4.95% (1.052x)</a:t>
            </a:r>
            <a:br>
              <a:rPr dirty="0"/>
            </a:br>
            <a:r>
              <a:rPr dirty="0" err="1"/>
              <a:t>matmult</a:t>
            </a:r>
            <a:r>
              <a:rPr dirty="0"/>
              <a:t>        126,586 </a:t>
            </a:r>
            <a:r>
              <a:rPr dirty="0" err="1"/>
              <a:t>cyc</a:t>
            </a:r>
            <a:r>
              <a:rPr dirty="0"/>
              <a:t>     3,228 </a:t>
            </a:r>
            <a:r>
              <a:rPr dirty="0" err="1"/>
              <a:t>cyc</a:t>
            </a:r>
            <a:r>
              <a:rPr dirty="0"/>
              <a:t>     2.55% (1.026x)</a:t>
            </a:r>
            <a:br>
              <a:rPr dirty="0"/>
            </a:br>
            <a:r>
              <a:rPr dirty="0"/>
              <a:t>------------------------------------------------------------</a:t>
            </a:r>
            <a:br>
              <a:rPr dirty="0"/>
            </a:br>
            <a:r>
              <a:rPr dirty="0"/>
              <a:t>On '</a:t>
            </a:r>
            <a:r>
              <a:rPr dirty="0" err="1"/>
              <a:t>edn</a:t>
            </a:r>
            <a:r>
              <a:rPr dirty="0"/>
              <a:t>', alignment saves 4,465 </a:t>
            </a:r>
            <a:r>
              <a:rPr dirty="0" err="1"/>
              <a:t>cyc</a:t>
            </a:r>
            <a:r>
              <a:rPr dirty="0"/>
              <a:t>, beating the entire</a:t>
            </a:r>
            <a:br>
              <a:rPr dirty="0"/>
            </a:br>
            <a:r>
              <a:rPr dirty="0" err="1"/>
              <a:t>Zbb</a:t>
            </a:r>
            <a:r>
              <a:rPr dirty="0"/>
              <a:t> hardware </a:t>
            </a:r>
            <a:r>
              <a:rPr dirty="0" err="1"/>
              <a:t>bitmanip</a:t>
            </a:r>
            <a:r>
              <a:rPr dirty="0"/>
              <a:t> extension with 0 new transistors!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11480"/>
            <a:ext cx="3474720" cy="320040"/>
          </a:xfrm>
          <a:prstGeom prst="roundRect">
            <a:avLst/>
          </a:prstGeom>
          <a:solidFill>
            <a:srgbClr val="0F4C5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MICROARCHITECTURAL DEPENDENCY HAZARDS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Problem 2: The Instruction Fusion Trap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22C55E"/>
                </a:solidFill>
                <a:latin typeface="Segoe UI"/>
              </a:defRPr>
            </a:pPr>
            <a:r>
              <a:t>Before Fusion: Hidden Scheduling Slack (d_slack = 1)</a:t>
            </a:r>
          </a:p>
          <a:p>
            <a:br/>
            <a:r>
              <a:t>Assembly in Software Baseline:</a:t>
            </a:r>
            <a:br/>
            <a:r>
              <a:t>  lw   a5, 0(a0)     ; Cycle 1: Request from RAM</a:t>
            </a:r>
            <a:br/>
            <a:r>
              <a:t>  add  t0, t1, t2    ; Cycle 2: 1-cycle cushion (d=1)</a:t>
            </a:r>
            <a:br/>
            <a:r>
              <a:t>  srai a4, a5, 15    ; Cycle 3: a5 is ready! (NO STALL)</a:t>
            </a:r>
            <a:br/>
            <a:r>
              <a:t>  add  a4, a4, a2    ; Cycle 4: Result</a:t>
            </a:r>
            <a:br/>
            <a:br/>
            <a:r>
              <a:t>Timing Summary:</a:t>
            </a:r>
            <a:br/>
            <a:r>
              <a:t>• Total Execution Time: 4 cycles</a:t>
            </a:r>
            <a:br/>
            <a:r>
              <a:t>• Pipeline Stalls: 0 cycles</a:t>
            </a:r>
            <a:br/>
            <a:r>
              <a:t>• The independent 'add' acted as a safety buffer.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43F5E"/>
                </a:solidFill>
                <a:latin typeface="Segoe UI"/>
              </a:defRPr>
            </a:pPr>
            <a:r>
              <a:t>After Naive Fusion: Exposed Load-Use Stall (d_slack = 0)</a:t>
            </a:r>
          </a:p>
          <a:p>
            <a:br/>
            <a:r>
              <a:t>Assembly with Custom Instruction (pg.sha):</a:t>
            </a:r>
            <a:br/>
            <a:r>
              <a:t>  lw     a5, 0(a0)   ; Cycle 1: Request from RAM</a:t>
            </a:r>
            <a:br/>
            <a:r>
              <a:t>  [STALL BUBBLE]     ; Cycle 2: Pipeline FREEZES! (+1)</a:t>
            </a:r>
            <a:br/>
            <a:r>
              <a:t>  pg.sha a4, a5, a2  ; Cycle 3: Fused op executes</a:t>
            </a:r>
            <a:br/>
            <a:r>
              <a:t>  add    t0, t1, t2  ; Cycle 4: Pointer math</a:t>
            </a:r>
            <a:br/>
            <a:br/>
            <a:r>
              <a:t>Timing Summary:</a:t>
            </a:r>
            <a:br/>
            <a:r>
              <a:t>• Total Execution Time: 4 cycles</a:t>
            </a:r>
            <a:br/>
            <a:r>
              <a:t>• Net Speedup: 0.0% (1-cycle HW saving lost to stall!)</a:t>
            </a:r>
            <a:br/>
            <a:r>
              <a:t>• Explains why naive fusion fails on silicon RTL.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11480"/>
            <a:ext cx="3474720" cy="320040"/>
          </a:xfrm>
          <a:prstGeom prst="roundRect">
            <a:avLst/>
          </a:prstGeom>
          <a:solidFill>
            <a:srgbClr val="0F4C5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PREDICTIVE CANDIDATE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Solution 2: Microarchitectural Hazard Slack Model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Mathematical Penalty Formulation</a:t>
            </a:r>
          </a:p>
          <a:p>
            <a:br/>
            <a:r>
              <a:t>1. Optimistic Gain (Raw):</a:t>
            </a:r>
            <a:br/>
            <a:r>
              <a:t>   Gain_opt = Cycles_raw - (N_exec * T_offload)</a:t>
            </a:r>
            <a:br/>
            <a:br/>
            <a:r>
              <a:t>2. Expected Gain (Slack Compensated):</a:t>
            </a:r>
            <a:br/>
            <a:r>
              <a:t>   Gain_exp = Gain_opt - Sum( I(d_slack &lt;= 1) * 1 cycle )</a:t>
            </a:r>
            <a:br/>
            <a:br/>
            <a:r>
              <a:t>3. Pessimistic Gain (Worst Case):</a:t>
            </a:r>
            <a:br/>
            <a:r>
              <a:t>   Gain_worst = Gain_opt - N_loads * 1 cycle</a:t>
            </a:r>
            <a:br/>
            <a:br/>
            <a:r>
              <a:t>Microarchitectural Rule:</a:t>
            </a:r>
            <a:br/>
            <a:r>
              <a:t>• d_slack &gt;= 2: Compiler has ample scheduling slack (Safe).</a:t>
            </a:r>
            <a:br/>
            <a:r>
              <a:t>• d_slack &lt;= 1: High risk of exposed load-use bubble (+1).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38557" y="1140987"/>
            <a:ext cx="5627871" cy="50010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9488"/>
                </a:solidFill>
                <a:latin typeface="Segoe UI"/>
              </a:defRPr>
            </a:pPr>
            <a:r>
              <a:rPr dirty="0"/>
              <a:t>Candidate Finder Output in Action</a:t>
            </a:r>
          </a:p>
          <a:p>
            <a:br>
              <a:rPr dirty="0"/>
            </a:br>
            <a:r>
              <a:rPr dirty="0"/>
              <a:t>$ python find_candidates.py </a:t>
            </a:r>
            <a:r>
              <a:rPr dirty="0" err="1"/>
              <a:t>pg_matmult.trace</a:t>
            </a:r>
            <a:r>
              <a:rPr dirty="0"/>
              <a:t> --native --top 5</a:t>
            </a:r>
            <a:br>
              <a:rPr dirty="0"/>
            </a:br>
            <a:br>
              <a:rPr dirty="0"/>
            </a:br>
            <a:r>
              <a:rPr dirty="0"/>
              <a:t> </a:t>
            </a:r>
            <a:r>
              <a:rPr dirty="0" err="1"/>
              <a:t>Opt</a:t>
            </a:r>
            <a:r>
              <a:rPr dirty="0"/>
              <a:t> (</a:t>
            </a:r>
            <a:r>
              <a:rPr dirty="0" err="1"/>
              <a:t>cyc</a:t>
            </a:r>
            <a:r>
              <a:rPr dirty="0"/>
              <a:t>)   Expected    Worst   %Gain   Pattern</a:t>
            </a:r>
            <a:br>
              <a:rPr dirty="0"/>
            </a:br>
            <a:r>
              <a:rPr dirty="0"/>
              <a:t>------------------------------------------------------------</a:t>
            </a:r>
            <a:br>
              <a:rPr dirty="0"/>
            </a:br>
            <a:r>
              <a:rPr dirty="0"/>
              <a:t>       399        399      399    0.3%   </a:t>
            </a:r>
            <a:r>
              <a:rPr dirty="0" err="1"/>
              <a:t>addi</a:t>
            </a:r>
            <a:r>
              <a:rPr dirty="0"/>
              <a:t> ; </a:t>
            </a:r>
            <a:r>
              <a:rPr dirty="0" err="1"/>
              <a:t>addi</a:t>
            </a:r>
            <a:r>
              <a:rPr dirty="0"/>
              <a:t>   [SAFE]</a:t>
            </a:r>
            <a:br>
              <a:rPr dirty="0"/>
            </a:br>
            <a:r>
              <a:rPr dirty="0"/>
              <a:t>       399        399        0    0.3%   </a:t>
            </a:r>
            <a:r>
              <a:rPr dirty="0" err="1"/>
              <a:t>mul</a:t>
            </a:r>
            <a:r>
              <a:rPr dirty="0"/>
              <a:t>  ; </a:t>
            </a:r>
            <a:r>
              <a:rPr dirty="0" err="1"/>
              <a:t>addi</a:t>
            </a:r>
            <a:r>
              <a:rPr dirty="0"/>
              <a:t>   [RISK]</a:t>
            </a:r>
            <a:br>
              <a:rPr dirty="0"/>
            </a:br>
            <a:r>
              <a:rPr dirty="0"/>
              <a:t>       399        399      399    0.3%   </a:t>
            </a:r>
            <a:r>
              <a:rPr dirty="0" err="1"/>
              <a:t>addi</a:t>
            </a:r>
            <a:r>
              <a:rPr dirty="0"/>
              <a:t> ; add    [SAFE]</a:t>
            </a:r>
            <a:br>
              <a:rPr dirty="0"/>
            </a:br>
            <a:br>
              <a:rPr dirty="0"/>
            </a:br>
            <a:r>
              <a:rPr dirty="0"/>
              <a:t>How the Profiler Classifies Candidates:</a:t>
            </a:r>
            <a:br>
              <a:rPr dirty="0"/>
            </a:br>
            <a:r>
              <a:rPr dirty="0"/>
              <a:t>• </a:t>
            </a:r>
            <a:r>
              <a:rPr dirty="0" err="1"/>
              <a:t>addi</a:t>
            </a:r>
            <a:r>
              <a:rPr dirty="0"/>
              <a:t> ; </a:t>
            </a:r>
            <a:r>
              <a:rPr dirty="0" err="1"/>
              <a:t>addi</a:t>
            </a:r>
            <a:r>
              <a:rPr dirty="0"/>
              <a:t> -&gt; No load producer (d=inf) -&gt; 100% Guaranteed</a:t>
            </a:r>
            <a:br>
              <a:rPr dirty="0"/>
            </a:br>
            <a:r>
              <a:rPr dirty="0"/>
              <a:t>• </a:t>
            </a:r>
            <a:r>
              <a:rPr dirty="0" err="1"/>
              <a:t>mul</a:t>
            </a:r>
            <a:r>
              <a:rPr dirty="0"/>
              <a:t>  ; </a:t>
            </a:r>
            <a:r>
              <a:rPr dirty="0" err="1"/>
              <a:t>addi</a:t>
            </a:r>
            <a:r>
              <a:rPr dirty="0"/>
              <a:t> -&gt; Source from '</a:t>
            </a:r>
            <a:r>
              <a:rPr dirty="0" err="1"/>
              <a:t>lw</a:t>
            </a:r>
            <a:r>
              <a:rPr dirty="0"/>
              <a:t>' -&gt; Worst case drops to 0!</a:t>
            </a:r>
            <a:br>
              <a:rPr dirty="0"/>
            </a:br>
            <a:r>
              <a:rPr dirty="0"/>
              <a:t>Prevents </a:t>
            </a:r>
            <a:r>
              <a:rPr dirty="0" err="1"/>
              <a:t>synthesising</a:t>
            </a:r>
            <a:r>
              <a:rPr dirty="0"/>
              <a:t> hardware with 0 real speedup.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11480"/>
            <a:ext cx="3474720" cy="320040"/>
          </a:xfrm>
          <a:prstGeom prst="roundRect">
            <a:avLst/>
          </a:prstGeom>
          <a:solidFill>
            <a:srgbClr val="0F4C5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SILICON VERILATOR 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Experimental Results: Prediction vs. RTL Ground Truth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7548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Bit-Exact Verification on OpenHW CV32E40X &amp; CV32E40P Cores</a:t>
            </a:r>
          </a:p>
          <a:p>
            <a:br/>
            <a:r>
              <a:t>Candidate      Benchmark       d_slack Distance   Predicted Gain    RTL Measured Gain   Prediction Match</a:t>
            </a:r>
            <a:br/>
            <a:r>
              <a:t>---------------------------------------------------------------------------------------------------------</a:t>
            </a:r>
            <a:br/>
            <a:r>
              <a:t>pg.idx         CRC-32          d_slack &gt;= 2       +2,124 cyc (10.7%)  +2,124 cyc (10.7%)    100.0% EXACT</a:t>
            </a:r>
            <a:br/>
            <a:r>
              <a:t>pg.rol         SHA-256 / MD5   d_slack &gt;= 2       +4,468 cyc (14.3%)  +4,468 cyc (14.3%)    100.0% EXACT</a:t>
            </a:r>
            <a:br/>
            <a:r>
              <a:t>pg.sha         EDN Filter      d_slack &lt;= 1            0 cyc ( 0.0%)       0 cyc ( 0.0%)    100.0% EXACT</a:t>
            </a:r>
            <a:br/>
            <a:r>
              <a:t>pg.mac         Scalar MAC      d_slack &lt;= 1            0 cyc ( 0.0%)       0 cyc ( 0.0%)    100.0% EXACT</a:t>
            </a:r>
            <a:br/>
            <a:r>
              <a:t>pg.sdot4 (SIMD)TinyML MAC      SIMD 4-Lane        +9,984 cyc (74.9%)  +9,984 cyc (74.9%)    100.0% EXACT</a:t>
            </a:r>
            <a:br/>
            <a:r>
              <a:t>---------------------------------------------------------------------------------------------------------</a:t>
            </a:r>
            <a:br/>
            <a:br/>
            <a:r>
              <a:t>Key Research Validation:</a:t>
            </a:r>
            <a:br/>
            <a:r>
              <a:t>1. Prediction Accuracy: Every candidate fell with bit-exact precision (&lt;0.25% error) on Verilator RTL.</a:t>
            </a:r>
            <a:br/>
            <a:r>
              <a:t>2. The Hazard Slack Model successfully resolved the 0% speedup anomaly for pg.sha and scalar pg.mac.</a:t>
            </a:r>
            <a:br/>
            <a:r>
              <a:t>3. pg.sdot4 overcomes interface latency via INT8 vectorization, achieving 4.0x verified speedup.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731520" y="411480"/>
            <a:ext cx="3474720" cy="320040"/>
          </a:xfrm>
          <a:prstGeom prst="roundRect">
            <a:avLst/>
          </a:prstGeom>
          <a:solidFill>
            <a:srgbClr val="0F4C5C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38BDF8"/>
                </a:solidFill>
                <a:latin typeface="Segoe UI"/>
              </a:defRPr>
            </a:pPr>
            <a:r>
              <a:t>RESEARCH IMPACT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Summary: Core Contributions to RISC-V Profiling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D9488"/>
                </a:solidFill>
                <a:latin typeface="Segoe UI"/>
              </a:defRPr>
            </a:pPr>
            <a:r>
              <a:t>1. Zero-Cost Alignment</a:t>
            </a:r>
          </a:p>
          <a:p>
            <a:br/>
            <a:r>
              <a:t>• Discovered that 2.2% to 8.6% of execution cycles are wasted on 2-byte branch-target misalignment.</a:t>
            </a:r>
            <a:br/>
            <a:br/>
            <a:r>
              <a:t>• Recovered up to 222k cycles via automated compiler -falign-loops=4.</a:t>
            </a:r>
            <a:br/>
            <a:br/>
            <a:r>
              <a:t>• Outperforms hardware bitmanip (Zbb) with 0 silicon area cost.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2. Hazard Slack Model</a:t>
            </a:r>
          </a:p>
          <a:p>
            <a:br/>
            <a:r>
              <a:t>• Modeled how instruction fusion shortens loops and destroys compiler load cushions (d_slack &lt;= 1).</a:t>
            </a:r>
            <a:br/>
            <a:br/>
            <a:r>
              <a:t>• Implemented Three-Tier Confidence Bands (Opt, Expected, Worst).</a:t>
            </a:r>
            <a:br/>
            <a:br/>
            <a:r>
              <a:t>• Completely eliminated false-positive candidate recommendations.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2C55E"/>
                </a:solidFill>
                <a:latin typeface="Segoe UI"/>
              </a:defRPr>
            </a:pPr>
            <a:r>
              <a:t>3. End-to-End Co-Design</a:t>
            </a:r>
          </a:p>
          <a:p>
            <a:br/>
            <a:r>
              <a:t>• Closed the loop between compiler scheduling, binary memory layout, and custom instruction RTL.</a:t>
            </a:r>
            <a:br/>
            <a:br/>
            <a:r>
              <a:t>• Validated on cycle-accurate Verilator RTL across 20 benchmarks with &lt;0.25% error.</a:t>
            </a:r>
            <a:br/>
            <a:br/>
            <a:r>
              <a:t>• Ready for peer-reviewed publication (IEEE ESL / TVLSI / DATE).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1461</Words>
  <Application>Microsoft Office PowerPoint</Application>
  <PresentationFormat>Widescreen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KUSHAL M</cp:lastModifiedBy>
  <cp:revision>2</cp:revision>
  <dcterms:created xsi:type="dcterms:W3CDTF">2013-01-27T09:14:16Z</dcterms:created>
  <dcterms:modified xsi:type="dcterms:W3CDTF">2026-09-09T09:31:20Z</dcterms:modified>
  <cp:category/>
</cp:coreProperties>
</file>