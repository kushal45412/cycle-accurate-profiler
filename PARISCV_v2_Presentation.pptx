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057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everyone. Today I'm presenting PARISCV v2, an end-to-end framework that takes unmodified C code, discovers custom instruction opportunities, and synthesizes, compiles, and verifies them on cycle-accurate OpenHW RISC-V silicon RTL in Verilator. We achieved a 4x hardware speedup on TinyML workloads by overcoming the coprocessor interface latency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core problem: CV-X-IF is a synchronous coprocessor interface that takes 2 clock cycles minimum. When previous works tried offloading scalar multiply-accumulate (pg.mac), software took 2 cycles and hardware took 2 cycles. The result was exactly 0% speedup. This established our microarchitectural rule: scalar fusion fails on coprocessors; we need SIMD parallelism.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break the latency bottleneck, we designed pg.sdot4. It packs four 8-bit signed integers into standard 32-bit registers. In the exact same 2-cycle CV-X-IF handshake, four 8x8 multipliers execute in parallel, sum through an adder tree, and accumulate into rs3. This reduces cost from 2.0 cycles per MAC to 0.5 cycles per MAC, delivering a 4x theoretical speedup.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CV32E40P, which lacks a coprocessor interface, we integrated custom instructions directly into the core's ALU and decoder. Because these execute inside the pipeline with 1-cycle latency and zero handshake overhead, even simple operations like rotate left, table indexing, and shift-add achieve solid 4% to 14% real cycle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the main systems contribution: pariscv_flow.py. It completely eliminates manual assembly coding. A developer gives the tool plain C code. In stage 1 and 2, it detects vector and crypto idioms and rewrites the source with hardware intrinsics. In stages 3, 4, and 5, it cross-compiles both baseline and accelerated binaries, runs them on Verilator silicon RTL, and checks bit-exact mathematical output, all in under 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the silicon RTL results on Verilator. pg.sdot4 achieved a 74.9% cycle reduction, delivering a 4.0x hardware speedup. In-pipeline instructions on CV32E40P achieved 4% to 14% speedup. The bottom row highlights our negative control: scalar pg.mac confirms the 0.0% speedup predicted by the 2-cycle offload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classified all 20 Embench benchmarks to understand architectural limits. On workloads with high compute ratios like TinyML, SHA-256, and CRC32, custom instructions deliver high speedups. However, on workloads like primecount and wikisort, control flow takes over 30% of cycles, showing that custom arithmetic cannot help without control-flow hardware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1097280"/>
            <a:ext cx="347472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HARDWARE-SOFTWARE CO-DESIGN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PARISCV v2: Automated Custom-Instruction Discovery</a:t>
            </a:r>
            <a:r>
              <a:rPr lang="en-US" dirty="0"/>
              <a:t> and its execution </a:t>
            </a:r>
            <a:r>
              <a:rPr dirty="0"/>
              <a:t>,</a:t>
            </a:r>
            <a:r>
              <a:rPr lang="en-US" dirty="0"/>
              <a:t> Speedup of mac operations</a:t>
            </a:r>
            <a:endParaRPr dirty="0"/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rPr dirty="0"/>
              <a:t>Closing the loop from plain C source code to real </a:t>
            </a:r>
            <a:r>
              <a:rPr dirty="0" err="1"/>
              <a:t>OpenHW</a:t>
            </a:r>
            <a:r>
              <a:rPr dirty="0"/>
              <a:t> RISC-V silicon RTL acceleration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32918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2800" b="1">
                <a:solidFill>
                  <a:srgbClr val="0D9488"/>
                </a:solidFill>
              </a:defRPr>
            </a:pPr>
            <a:r>
              <a:rPr dirty="0"/>
              <a:t>3.99× ≈ 4.0×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rPr dirty="0"/>
              <a:t>RTL Speedup on </a:t>
            </a:r>
            <a:r>
              <a:rPr dirty="0" err="1"/>
              <a:t>TinyML</a:t>
            </a:r>
            <a:r>
              <a:rPr dirty="0"/>
              <a:t> INT8 SIMD (CV32E40X Coprocessor)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28391" y="4114800"/>
            <a:ext cx="32918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5-Stage Flow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Push-button automated C-to-Silicon toolchain (&lt;15s runtime)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PROBLEM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The Offload Dilemma: Why Naive Coprocessors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CV-X-IF 2-Cycle Synchronous Handshake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1. Cycle 1 (Issue Phase): Core decodes opcode 0x0b, drives xif_issue_if.issue_valid, and routes rs1, rs2, rs3 to coprocessor.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2. Cycle 2 (Result Phase): Coprocessor computes arithmetic and asserts xif_result_if.result_valid. Core commits writeback to rd.</a:t>
            </a:r>
          </a:p>
          <a:p>
            <a:pPr>
              <a:spcBef>
                <a:spcPts val="1200"/>
              </a:spcBef>
              <a:defRPr sz="1300" b="1">
                <a:solidFill>
                  <a:srgbClr val="DC2626"/>
                </a:solidFill>
              </a:defRPr>
            </a:pPr>
            <a:r>
              <a:t>Result: Any offload over CV-X-IF incurs an unavoidable 2-cycle interface penalty (TXIF = 2 cycles).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The Scalar MAC (pg.mac) Failure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In standard software, scalar Multiply-Accumulate takes 2 cycles (1 cycle MUL + 1 cycle ADD).</a:t>
            </a:r>
          </a:p>
          <a:p>
            <a:pPr>
              <a:spcBef>
                <a:spcPts val="1400"/>
              </a:spcBef>
              <a:defRPr sz="1400" b="1">
                <a:solidFill>
                  <a:srgbClr val="1E3A8A"/>
                </a:solidFill>
              </a:defRPr>
            </a:pPr>
            <a:r>
              <a:t>Speedup = T_SW / T_XIF = 2 cycles / 2 cycles = 1.00× (0.0% Speedup)</a:t>
            </a:r>
          </a:p>
          <a:p>
            <a:pPr>
              <a:spcBef>
                <a:spcPts val="1400"/>
              </a:spcBef>
              <a:defRPr sz="1300" b="1">
                <a:solidFill>
                  <a:srgbClr val="1E3A8A"/>
                </a:solidFill>
              </a:defRPr>
            </a:pPr>
            <a:r>
              <a:t>Key Takeaways &amp; Offload Rules: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• 2-instruction scalar fusion across CV-X-IF can NEVER win.</a:t>
            </a:r>
            <a:br/>
            <a:r>
              <a:t>• A fused sequence must take ≥ 3 cycles in software to justify offload.</a:t>
            </a:r>
            <a:br/>
            <a:r>
              <a:t>• We must exploit SIMD data parallelism to overcome interface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7726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HARDWARE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7271" y="691551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The pg.sdot4 Breakthrough: 4-Lane INT8 SIMD on CV32E40X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dirty="0"/>
              <a:t>Packed 8-Bit Dot-Product with 32-Bit Accumulation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rPr dirty="0"/>
              <a:t>• Instruction: pg.sdot4 </a:t>
            </a:r>
            <a:r>
              <a:rPr dirty="0" err="1"/>
              <a:t>rd</a:t>
            </a:r>
            <a:r>
              <a:rPr dirty="0"/>
              <a:t>, rs1, rs2, rs3 (Custom R4-Type, Opcode 0x0b)</a:t>
            </a:r>
            <a:br>
              <a:rPr dirty="0"/>
            </a:br>
            <a:r>
              <a:rPr dirty="0"/>
              <a:t>• Datapath: Four parallel 8x8 signed multipliers + adder tree + 32-bit accumulator</a:t>
            </a:r>
          </a:p>
          <a:p>
            <a:pPr>
              <a:spcBef>
                <a:spcPts val="1000"/>
              </a:spcBef>
              <a:defRPr sz="1300" b="1">
                <a:solidFill>
                  <a:srgbClr val="0D9488"/>
                </a:solidFill>
              </a:defRPr>
            </a:pPr>
            <a:r>
              <a:rPr dirty="0"/>
              <a:t>Mathematical Definition:</a:t>
            </a:r>
            <a:br>
              <a:rPr dirty="0"/>
            </a:br>
            <a:r>
              <a:rPr dirty="0" err="1"/>
              <a:t>rd</a:t>
            </a:r>
            <a:r>
              <a:rPr dirty="0"/>
              <a:t> ← rs3 + Σ (rs1[8k+7 : 8k] × rs2[8k+7 : 8k]) for k = 0</a:t>
            </a:r>
            <a:r>
              <a:rPr lang="en-US" dirty="0"/>
              <a:t>,1,2,</a:t>
            </a:r>
            <a:r>
              <a:rPr dirty="0"/>
              <a:t>3</a:t>
            </a:r>
            <a:r>
              <a:rPr lang="en-US" dirty="0"/>
              <a:t>..</a:t>
            </a:r>
          </a:p>
          <a:p>
            <a:pPr>
              <a:spcBef>
                <a:spcPts val="1000"/>
              </a:spcBef>
              <a:defRPr sz="1300" b="1">
                <a:solidFill>
                  <a:srgbClr val="0D9488"/>
                </a:solidFill>
              </a:defRPr>
            </a:pPr>
            <a:r>
              <a:rPr dirty="0"/>
              <a:t>Why </a:t>
            </a:r>
            <a:r>
              <a:rPr lang="en-US" dirty="0"/>
              <a:t>we get the speedup? </a:t>
            </a:r>
            <a:r>
              <a:rPr dirty="0"/>
              <a:t>:</a:t>
            </a:r>
            <a:br>
              <a:rPr dirty="0"/>
            </a:br>
            <a:r>
              <a:rPr dirty="0"/>
              <a:t>• Computes 4 MAC operations in the same 2-cycle CV-X-IF handshake.</a:t>
            </a:r>
            <a:br>
              <a:rPr dirty="0"/>
            </a:br>
            <a:r>
              <a:rPr dirty="0"/>
              <a:t>• Effective Throughput: 0.5 cycles per MAC (vs 2.0 cycles in software)!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484632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Concrete Computation Example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Given Accumulator rs3 = 100:</a:t>
            </a:r>
            <a:br/>
            <a:r>
              <a:t>• rs1 = [2, -1, 3, 4]  (Hex: 0x02FF0304)</a:t>
            </a:r>
            <a:br/>
            <a:r>
              <a:t>• rs2 = [1,  5,-2, 3]  (Hex: 0x0105FE03)</a:t>
            </a:r>
          </a:p>
          <a:p>
            <a:pPr>
              <a:spcBef>
                <a:spcPts val="1000"/>
              </a:spcBef>
              <a:defRPr sz="1300" b="1">
                <a:solidFill>
                  <a:srgbClr val="0D9488"/>
                </a:solidFill>
              </a:defRPr>
            </a:pPr>
            <a:r>
              <a:t>Hardware Execution (2 cycles):</a:t>
            </a:r>
            <a:br/>
            <a:r>
              <a:t>rd = 100 + (2×1) + (-1×5) + (3×-2) + (4×3)</a:t>
            </a:r>
            <a:br/>
            <a:r>
              <a:t>rd = 100 + 2 - 5 - 6 + 12 = 103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Software equivalent requires:</a:t>
            </a:r>
            <a:br/>
            <a:r>
              <a:t>• 4 byte loads + 4 sign-extensions + 4 multiplies + 4 adds (≈ 16 cycles)</a:t>
            </a:r>
            <a:br/>
            <a:r>
              <a:t>• Hardware replaces 14 instructions with a single 2-cycle instruction.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HARDWARE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Native In-Pipeline ALU Instructions on CV32E40P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1. pg.rol (Rotate Left)</a:t>
            </a:r>
          </a:p>
          <a:p>
            <a:pPr>
              <a:spcBef>
                <a:spcPts val="400"/>
              </a:spcBef>
              <a:defRPr sz="1200" b="1">
                <a:solidFill>
                  <a:srgbClr val="0D9488"/>
                </a:solidFill>
              </a:defRPr>
            </a:pPr>
            <a:r>
              <a:t>Target: Nettle SHA-256 &amp; MD5</a:t>
            </a:r>
            <a:br/>
            <a:r>
              <a:t>Latency: 1 cycle (In-pipeline)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Operation:</a:t>
            </a:r>
            <a:br/>
            <a:r>
              <a:t>rd = (rs1 &lt;&lt; rs2) | (rs1 &gt;&gt; (32 - rs2))</a:t>
            </a:r>
            <a:br/>
            <a:br/>
            <a:r>
              <a:t>Impact:</a:t>
            </a:r>
            <a:br/>
            <a:r>
              <a:t>• Replaces 4 instructions (sll, srl, sub, or) with 1 cycle ALU op.</a:t>
            </a:r>
            <a:br/>
            <a:r>
              <a:t>• 14.3% cycle reduction on SHA-256 (4,468 cycles saved).</a:t>
            </a:r>
            <a:br/>
            <a:r>
              <a:t>• 4.2% cycle reduction on MD5 (2,054 cycles saved).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2. pg.idx (Table Index)</a:t>
            </a:r>
          </a:p>
          <a:p>
            <a:pPr>
              <a:spcBef>
                <a:spcPts val="400"/>
              </a:spcBef>
              <a:defRPr sz="1200" b="1">
                <a:solidFill>
                  <a:srgbClr val="0D9488"/>
                </a:solidFill>
              </a:defRPr>
            </a:pPr>
            <a:r>
              <a:t>Target: CRC-32 Checksum</a:t>
            </a:r>
            <a:br/>
            <a:r>
              <a:t>Latency: 1 cycle (In-pipeline)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Operation:</a:t>
            </a:r>
            <a:br/>
            <a:r>
              <a:t>rd = rs2 + ((rs1 &amp; 0xFF) &lt;&lt; 2)</a:t>
            </a:r>
            <a:br/>
            <a:br/>
            <a:r>
              <a:t>Impact:</a:t>
            </a:r>
            <a:br/>
            <a:r>
              <a:t>• Fuses byte masking (andi 0xFF), word shift (slli 2), and base address addition (add).</a:t>
            </a:r>
            <a:br/>
            <a:r>
              <a:t>• 10.7% cycle reduction on CRC-32 (2,124 cycles saved).</a:t>
            </a:r>
            <a:br/>
            <a:r>
              <a:t>• Replaces table address calculation sequences.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3. pg.sha (Shift-Add)</a:t>
            </a:r>
          </a:p>
          <a:p>
            <a:pPr>
              <a:spcBef>
                <a:spcPts val="400"/>
              </a:spcBef>
              <a:defRPr sz="1200" b="1">
                <a:solidFill>
                  <a:srgbClr val="0D9488"/>
                </a:solidFill>
              </a:defRPr>
            </a:pPr>
            <a:r>
              <a:t>Target: EDN Digital Filter</a:t>
            </a:r>
            <a:br/>
            <a:r>
              <a:t>Latency: 1 cycle (In-pipeline)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Operation:</a:t>
            </a:r>
            <a:br/>
            <a:r>
              <a:t>rd = (rs1 &gt;&gt;&gt; 15) + rs2</a:t>
            </a:r>
            <a:br/>
            <a:br/>
            <a:r>
              <a:t>Impact:</a:t>
            </a:r>
            <a:br/>
            <a:r>
              <a:t>• Fuses arithmetic right shift (srai 15) and accumulator addition (add).</a:t>
            </a:r>
            <a:br/>
            <a:r>
              <a:t>• 4.1% cycle reduction on EDN (1,749 cycles saved).</a:t>
            </a:r>
            <a:br/>
            <a:r>
              <a:t>• Demonstrates in-pipeline ALU fusion for digital signal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PUSH-BUTTON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The 5-Stage Automated C-to-Silicon Toolchain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Stage 1</a:t>
            </a:r>
          </a:p>
          <a:p>
            <a:pPr>
              <a:spcBef>
                <a:spcPts val="200"/>
              </a:spcBef>
              <a:defRPr sz="1300" b="1">
                <a:solidFill>
                  <a:srgbClr val="1E3A8A"/>
                </a:solidFill>
              </a:defRPr>
            </a:pPr>
            <a:r>
              <a:t>Idiom Detector</a:t>
            </a:r>
          </a:p>
          <a:p>
            <a:pPr>
              <a:spcBef>
                <a:spcPts val="200"/>
              </a:spcBef>
              <a:defRPr sz="900" i="1">
                <a:solidFill>
                  <a:srgbClr val="64748B"/>
                </a:solidFill>
              </a:defRPr>
            </a:pPr>
            <a:r>
              <a:t>tools/idiom_detector.py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Scans plain C code</a:t>
            </a:r>
            <a:br/>
            <a:r>
              <a:t>• AST &amp; regex matching</a:t>
            </a:r>
            <a:br/>
            <a:r>
              <a:t>• Identifies sdot4, rol, idx loops</a:t>
            </a:r>
            <a:br/>
            <a:r>
              <a:t>• Binds to target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rPr dirty="0"/>
              <a:t>Stage 2</a:t>
            </a:r>
          </a:p>
          <a:p>
            <a:pPr>
              <a:spcBef>
                <a:spcPts val="200"/>
              </a:spcBef>
              <a:defRPr sz="1300" b="1">
                <a:solidFill>
                  <a:srgbClr val="1E3A8A"/>
                </a:solidFill>
              </a:defRPr>
            </a:pPr>
            <a:r>
              <a:rPr dirty="0"/>
              <a:t>Source Rewriter</a:t>
            </a:r>
          </a:p>
          <a:p>
            <a:pPr>
              <a:spcBef>
                <a:spcPts val="200"/>
              </a:spcBef>
              <a:defRPr sz="900" i="1">
                <a:solidFill>
                  <a:srgbClr val="64748B"/>
                </a:solidFill>
              </a:defRPr>
            </a:pPr>
            <a:r>
              <a:rPr dirty="0"/>
              <a:t>tools/c_rewriter.py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lang="en-US" dirty="0"/>
              <a:t>Puts</a:t>
            </a:r>
            <a:r>
              <a:rPr dirty="0"/>
              <a:t> intrinsics header</a:t>
            </a:r>
            <a:br>
              <a:rPr dirty="0"/>
            </a:br>
            <a:r>
              <a:rPr dirty="0"/>
              <a:t>• Replaces C loops with __</a:t>
            </a:r>
            <a:r>
              <a:rPr dirty="0" err="1"/>
              <a:t>builtin_pg</a:t>
            </a:r>
            <a:r>
              <a:rPr dirty="0"/>
              <a:t>_*()</a:t>
            </a:r>
            <a:br>
              <a:rPr dirty="0"/>
            </a:br>
            <a:r>
              <a:rPr dirty="0"/>
              <a:t>• Emits clean standalone &lt;file&gt;_</a:t>
            </a:r>
            <a:r>
              <a:rPr dirty="0" err="1"/>
              <a:t>accel.c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084064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Stage 3 &amp; 4</a:t>
            </a:r>
          </a:p>
          <a:p>
            <a:pPr>
              <a:spcBef>
                <a:spcPts val="200"/>
              </a:spcBef>
              <a:defRPr sz="1300" b="1">
                <a:solidFill>
                  <a:srgbClr val="1E3A8A"/>
                </a:solidFill>
              </a:defRPr>
            </a:pPr>
            <a:r>
              <a:t>Dual Firmware Builder</a:t>
            </a:r>
          </a:p>
          <a:p>
            <a:pPr>
              <a:spcBef>
                <a:spcPts val="200"/>
              </a:spcBef>
              <a:defRPr sz="900" i="1">
                <a:solidFill>
                  <a:srgbClr val="64748B"/>
                </a:solidFill>
              </a:defRPr>
            </a:pPr>
            <a:r>
              <a:t>tools/firmware_builder.py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Bare-metal GCC toolchain</a:t>
            </a:r>
            <a:br/>
            <a:r>
              <a:t>• -Os -nostdlib -march</a:t>
            </a:r>
            <a:br/>
            <a:r>
              <a:t>• Links link_rtl.ld</a:t>
            </a:r>
            <a:br/>
            <a:r>
              <a:t>• Emits baseline &amp; accel .hex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Stage 5</a:t>
            </a:r>
          </a:p>
          <a:p>
            <a:pPr>
              <a:spcBef>
                <a:spcPts val="200"/>
              </a:spcBef>
              <a:defRPr sz="1300" b="1">
                <a:solidFill>
                  <a:srgbClr val="1E3A8A"/>
                </a:solidFill>
              </a:defRPr>
            </a:pPr>
            <a:r>
              <a:t>Verilator RTL Runner</a:t>
            </a:r>
          </a:p>
          <a:p>
            <a:pPr>
              <a:spcBef>
                <a:spcPts val="200"/>
              </a:spcBef>
              <a:defRPr sz="900" i="1">
                <a:solidFill>
                  <a:srgbClr val="64748B"/>
                </a:solidFill>
              </a:defRPr>
            </a:pPr>
            <a:r>
              <a:t>tools/verilator_runner.py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Executes testbench_verilator</a:t>
            </a:r>
            <a:br/>
            <a:r>
              <a:t>• Relative +firmware= paths</a:t>
            </a:r>
            <a:br/>
            <a:r>
              <a:t>• Parses rdcycle registers</a:t>
            </a:r>
            <a:br/>
            <a:r>
              <a:t>• Validates MMIO exit (0x0)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Stage 5b</a:t>
            </a:r>
          </a:p>
          <a:p>
            <a:pPr>
              <a:spcBef>
                <a:spcPts val="200"/>
              </a:spcBef>
              <a:defRPr sz="1300" b="1">
                <a:solidFill>
                  <a:srgbClr val="1E3A8A"/>
                </a:solidFill>
              </a:defRPr>
            </a:pPr>
            <a:r>
              <a:t>Silicon Report &amp; Verify</a:t>
            </a:r>
          </a:p>
          <a:p>
            <a:pPr>
              <a:spcBef>
                <a:spcPts val="200"/>
              </a:spcBef>
              <a:defRPr sz="900" i="1">
                <a:solidFill>
                  <a:srgbClr val="64748B"/>
                </a:solidFill>
              </a:defRPr>
            </a:pPr>
            <a:r>
              <a:t>Bit-Exact Matching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Checksum check (result=1)</a:t>
            </a:r>
            <a:br/>
            <a:r>
              <a:t>• Computes verified speedup</a:t>
            </a:r>
            <a:br/>
            <a:r>
              <a:t>• Formats CLI report</a:t>
            </a:r>
            <a:br/>
            <a:r>
              <a:t>• Total time: &lt;15 seconds!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6035040"/>
            <a:ext cx="10698480" cy="5029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73152"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Single CLI Command Execution:  python3 pariscv_flow.py --auto-accelerate bench_mac.c --core cv32e40x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Verified Silicon RTL Performance Improvements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690057"/>
              </p:ext>
            </p:extLst>
          </p:nvPr>
        </p:nvGraphicFramePr>
        <p:xfrm>
          <a:off x="731520" y="13716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Instruction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Benchmark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Baseline Cyc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Accel Cyc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Saved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Reduction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HW Speedup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pg.sdot4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rPr dirty="0"/>
                        <a:t> MAC</a:t>
                      </a:r>
                      <a:r>
                        <a:rPr lang="en-US" dirty="0"/>
                        <a:t>.C</a:t>
                      </a:r>
                      <a:r>
                        <a:rPr dirty="0"/>
                        <a:t> (1024-elem)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13,323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3,339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9,984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74.9%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3.99× ≈ 4.0×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pg.rol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Nettle SHA-256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31,240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26,772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4,468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1.17×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pg.idx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CRC-32 Checksum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19,842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17,718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2,124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1.12×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pg.rol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MD5 Hash 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48,910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46,856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1.04×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pg.sha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EDN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42,650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40,901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1,749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1.04×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pg.mac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Scalar MAC (1024-elem)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13,323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13,323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2626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2626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2626"/>
                          </a:solidFill>
                        </a:defRPr>
                      </a:pPr>
                      <a:r>
                        <a:rPr dirty="0"/>
                        <a:t>1.00× (Control)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100% Bit-Exact Verification: All hardware runs passed mathematical checksums (result == 1) with clean EXIT SUCCESS (0).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MICROARCHITECTURAL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Architectural Stall Decomposition (20 Embench Workloads)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dirty="0"/>
              <a:t>Where Do The Cycles Go?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rPr dirty="0"/>
              <a:t>Analysis across 20 </a:t>
            </a:r>
            <a:r>
              <a:rPr dirty="0" err="1"/>
              <a:t>Embench</a:t>
            </a:r>
            <a:r>
              <a:rPr dirty="0"/>
              <a:t> workloads reveals why custom instructions only help certain kernels: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1. Control-Flow Dominance:</a:t>
            </a:r>
            <a:br>
              <a:rPr dirty="0"/>
            </a:br>
            <a:r>
              <a:rPr dirty="0"/>
              <a:t>• Kernels like </a:t>
            </a:r>
            <a:r>
              <a:rPr dirty="0" err="1"/>
              <a:t>primecount</a:t>
            </a:r>
            <a:r>
              <a:rPr dirty="0"/>
              <a:t> (31% branch) and </a:t>
            </a:r>
            <a:r>
              <a:rPr dirty="0" err="1"/>
              <a:t>tarfind</a:t>
            </a:r>
            <a:r>
              <a:rPr dirty="0"/>
              <a:t> (35% branch) are branch-bound.</a:t>
            </a:r>
            <a:br>
              <a:rPr dirty="0"/>
            </a:br>
            <a:r>
              <a:rPr dirty="0"/>
              <a:t>• Arithmetic ISE cannot accelerate control flow.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2. Free Cycles in Alignment:</a:t>
            </a:r>
            <a:br>
              <a:rPr dirty="0"/>
            </a:br>
            <a:r>
              <a:rPr dirty="0"/>
              <a:t>• Branch target misalignment alone costs 2.2% to 8.4% of total cycles.</a:t>
            </a:r>
            <a:br>
              <a:rPr dirty="0"/>
            </a:br>
            <a:r>
              <a:rPr dirty="0"/>
              <a:t>• On </a:t>
            </a:r>
            <a:r>
              <a:rPr dirty="0" err="1"/>
              <a:t>edn</a:t>
            </a:r>
            <a:r>
              <a:rPr dirty="0"/>
              <a:t>, alignment fixes save 4,465 cycles—more than enabling </a:t>
            </a:r>
            <a:r>
              <a:rPr dirty="0" err="1"/>
              <a:t>bitmanip</a:t>
            </a:r>
            <a:r>
              <a:rPr dirty="0"/>
              <a:t> (</a:t>
            </a:r>
            <a:r>
              <a:rPr dirty="0" err="1"/>
              <a:t>Zbb</a:t>
            </a:r>
            <a:r>
              <a:rPr dirty="0"/>
              <a:t>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814513"/>
              </p:ext>
            </p:extLst>
          </p:nvPr>
        </p:nvGraphicFramePr>
        <p:xfrm>
          <a:off x="5120640" y="1371600"/>
          <a:ext cx="6309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057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Comp%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Br%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Candidate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rPr dirty="0" err="1"/>
                        <a:t>bench_mac</a:t>
                      </a:r>
                      <a:r>
                        <a:rPr lang="en-US" dirty="0" err="1"/>
                        <a:t>.c</a:t>
                      </a:r>
                      <a:endParaRPr dirty="0"/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/>
                      </a:pPr>
                      <a:r>
                        <a:t>13,323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/>
                      </a:pPr>
                      <a:r>
                        <a:t>76.2%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/>
                      </a:pPr>
                      <a:r>
                        <a:t>12.1%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/>
                      </a:pPr>
                      <a:r>
                        <a:t>pg.sdot4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/>
                      </a:pPr>
                      <a:r>
                        <a:t>67.6%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nettle-sha256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31,240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79.4%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pg.rol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crc32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19,842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71.5%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14.2%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pg.idx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10.7%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md5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48,910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pg.rol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edn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42,650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74.8%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11.9%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pg.sha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matmult-int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124,500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73.1%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pg.mac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primecount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162,340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52.4%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31.0%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tarfind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58,210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49.8%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wikisort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215,400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51.2%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058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t>statemate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38,400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58.1%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28.4%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rPr dirty="0"/>
                        <a:t>0.0%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1768</Words>
  <Application>Microsoft Office PowerPoint</Application>
  <PresentationFormat>Widescreen</PresentationFormat>
  <Paragraphs>193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KUSHAL M</cp:lastModifiedBy>
  <cp:revision>7</cp:revision>
  <dcterms:created xsi:type="dcterms:W3CDTF">2013-01-27T09:14:16Z</dcterms:created>
  <dcterms:modified xsi:type="dcterms:W3CDTF">2026-09-02T07:03:18Z</dcterms:modified>
  <cp:category/>
</cp:coreProperties>
</file>